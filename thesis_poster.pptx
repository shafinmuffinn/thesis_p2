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2138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2138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999" y="251999"/>
            <a:ext cx="29771999" cy="252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432000"/>
            <a:ext cx="29411999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Cross-Modal Affective Coherence: Detecting Discrepancies Between Externally Expressed and Internally Experienced Emotion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260000"/>
            <a:ext cx="2941199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A Multimodal Framework Using EEG, Audio and Video on the EAV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764000"/>
            <a:ext cx="29411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Shafin  ·  [Institution name — to be filled in]  ·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999" y="2951999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999" y="3527999"/>
            <a:ext cx="9803999" cy="30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Emotion recognition systems that rely on audio and video alone capture only externally expressed affect, missing the internal physiological state. We present a trimodal framework on the EAV dataset that addresses two complementary goals: (1) accurate trimodal emotion classification, and (2) novel detection of cross-modal incoherence — events where the displayed emotion diverges from the internal state indicated by EEG. Our modality-dropout-trained system reaches 84.7% mean test accuracy across 42 subjects, exceeding the prior published state of the art on EAV (Hyper-MML, 76.65%) by +8.05 percentage points, and reaches 81.5% with EEG zeroed at inference, demonstrating graceful degradation. All four method comparisons are statistically significant (paired Wilcoxon, p&lt;0.05). On 5,040 test trials, 8.0% exhibit confident cross-modal incoherence, with dominant patterns being bidirectional Anger↔Happiness confusion (117 events) and low-arousal-to-Neutral suppression (83 events).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999" y="6983999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7559999"/>
            <a:ext cx="9803999" cy="30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1. Per-modality baselines: Can audio, video and EEG individually exceed the EAV paper's per-modality baselines?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2. Fusion gain: Does multimodal fusion improve over the best single modality?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3. Architectural contribution: Does learned cross-modal attention outperform naïve late fusion?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4. Coherence as signal: When modalities disagree, do consistent cross-population patterns emerge?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5. Robustness: Does the system degrade gracefully when EEG is unavailable at inference time?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999" y="10691999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99" y="11267999"/>
            <a:ext cx="9803999" cy="28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Per-modality encoders: AST (audio), ViT (video), EEGNet (EEG).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Cross-attention fusion module over three modality tokens with learnable modality embeddings and 2-layer transformer encoder.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Concat-MLP fusion baseline (1.34M params) on concatenated features as a learned-fusion comparator.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Softhard modality dropout training to enable missing-modality inference and provide architecture-agnostic regularisation.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Coherence analysis: pairwise KL divergence + 5×5 suppression matrix counting confident cross-modal divergence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999" y="14219999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99" y="14795999"/>
            <a:ext cx="980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Audio: resample to 16 kHz; 5-second segmentation; AST feature extractor (log-mel spectrogram).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Video: 25 frames per 5-second clip; MTCNN face detection; 224×224 face crop; ViT image processor.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EEG: 500→100 Hz downsampling; fifth-order Butterworth bandpass [0.5, 45] Hz; 5-second non-overlapping windows.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Per-subject 70/30 split (h_idx=56): 280 train / 120 test trials.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999" y="17028000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DATASET SPECIFICATIONS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51999" y="17604000"/>
          <a:ext cx="98039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999"/>
                <a:gridCol w="4902000"/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Participants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42 (lab-controlled)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Emotion classes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5 (Neutral, Sad, Angry, Happy, Calm)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Interactions/subject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200 (Listen + Speak)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EEG channels / rate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30 / 500 Hz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Audio rate / duration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16 kHz / 5-s segments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Video resolution / fps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224×224 / 25 fps post-pre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10235999" y="2951999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PROPOSED MODEL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35999" y="3527999"/>
            <a:ext cx="9803999" cy="28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The TrimodalAttentionFusion module receives three pooled per-modality features (audio: 768-d AST output, video: 768-d ViT output, EEG: 960-d EEGNet output) and produces a 5-class emotion prediction together with named per-modality embeddings.</a:t>
            </a:r>
          </a:p>
          <a:p>
            <a:pPr algn="just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/>
            </a:r>
          </a:p>
          <a:p>
            <a:pPr algn="just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Architectural pipeline (2.28M trainable parameters):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5999" y="4968000"/>
            <a:ext cx="9803999" cy="18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Linear projection of each modality to common d=256 dimension.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Add learnable modality embedding (3×256) to distinguish tokens.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Stack as 3-token sequence; apply 2-layer transformer encoder (8 heads, GELU, pre-layer-norm, dim_ff=1024).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Mean-pool 3 post-attention tokens to fused 256-d vector.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MLP head (Linear→GELU→Dropout→Linear) to 5-class logits.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35999" y="6947999"/>
            <a:ext cx="9803999" cy="10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Two architectural commitments: (a) forward() returns named per-modality embeddings to support a future temporal head; (b) forward(audio, video, x_eeg=zeros) is a valid call, enabling missing-EEG inference at deployment.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35999" y="8099999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TRAINING RESULTS (42 SUBJECTS)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235999" y="8675999"/>
          <a:ext cx="9803999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999"/>
                <a:gridCol w="3267999"/>
                <a:gridCol w="3268001"/>
              </a:tblGrid>
              <a:tr h="336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Acc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Audio only (AST)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Vision only (ViT)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0.102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EEG only (EEGNet)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43.9%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0.094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Naïve late fusion (mean-softmax)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77.5%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Cross-attention fusion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80.2%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0.083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Concat-MLP fusion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81.7%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0.076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+ Softhard modality dropout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84.7%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0.079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36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Demo path (AV-only, EEG=0)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81.5%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0.088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0235999" y="11771999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PRIOR FUSION METHODS ON EAV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0235999" y="12347999"/>
          <a:ext cx="9803999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999"/>
                <a:gridCol w="3267999"/>
                <a:gridCol w="3268001"/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Fusion Acc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AMERL (Yin et al.)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70.86%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Hyper-MML (Kang et al.)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76.65%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EEG-MoCE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75.88%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Ours (cross-attention)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80.20%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Ours (+ modality dropout)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84.70%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0235999" y="14400000"/>
            <a:ext cx="9803999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Degraded-modality accuracy (with modality dropout):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0235999" y="14760000"/>
          <a:ext cx="9803999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999"/>
                <a:gridCol w="3267999"/>
                <a:gridCol w="3268001"/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Full (A+V+E)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84.7%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AV only (no EEG)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81.5%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−3.2 pp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VE only (no audio)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79.7%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−5.0 pp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AE only (no video)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54.0%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−30.7 pp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20220000" y="2951999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CLASSWISE PERFORMANCE METRICS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0220000" y="3527999"/>
          <a:ext cx="9803999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999"/>
                <a:gridCol w="2450999"/>
                <a:gridCol w="2450999"/>
                <a:gridCol w="2451002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Emotion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0.806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Sadness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0.902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0.782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0.837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Anger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0.885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0.878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Happiness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0.852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0.949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0.898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Calmness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0.778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0.850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0.813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0220000" y="5760000"/>
            <a:ext cx="9803999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Aggregate confusion matrix (row %; predicted per true class):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20220000" y="6156000"/>
          <a:ext cx="9803999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999"/>
                <a:gridCol w="1633999"/>
                <a:gridCol w="1633999"/>
                <a:gridCol w="1633999"/>
                <a:gridCol w="1633999"/>
                <a:gridCol w="1634004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True \ Pred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Neu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Sad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Ang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Hap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Cal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Sadness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Anger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Happiness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Calmness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0220000" y="8388000"/>
            <a:ext cx="9803999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Cross-modal suppression patterns (42 subj., 401 events):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0220000" y="8784000"/>
          <a:ext cx="9803999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999"/>
                <a:gridCol w="3267999"/>
                <a:gridCol w="3268001"/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External → Internal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Anger → Happiness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16.2%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Happiness → Anger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13.0%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Sadness → Neutral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10.7%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Calmness → Neutral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36000" marR="36000" marT="18000" marB="180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0220000" y="10296000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RESEARCH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20000" y="10872000"/>
            <a:ext cx="9803999" cy="30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1. New SOTA on EAV: 84.7% (modality dropout) exceeds prior best (Hyper-MML, 76.65%) by +8.05 pp.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2. Per-modality classifiers exceed EAV's published baselines by 7-22 pp.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3. Learned fusion significantly beats naive late fusion: cross-attention +2.7 pp (p=0.023), concat-MLP +4.2 pp (p&lt;10⁻⁴).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4. Modality dropout is the dominant gain: +4.5 pp over cross-attention (p=1.3×10⁻⁷), architecture-agnostic.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5. 8.0% of 5,040 trials show confident cross-modal incoherence; patterns cross-population, not outlier-driven.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6. Demo path (AV-only) at 81.5% — significantly exceeds the dropout-untrained full-modality model (p=0.034).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220000" y="14112000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FUTURE WORK (PHASE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20000" y="14688000"/>
            <a:ext cx="9803999" cy="19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Clinical validation: coherence detection on labelled depression / alexithymia populations.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Primary AV dataset (smartphone-recorded) merged with EAV via two-stage fine-tuning; Likert self-report as EEG proxy.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In-the-wild deployment: temporal head over per-modality embeddings; DFEW or MAFW datasets.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MERCL contrastive pre-training across the three modalities.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5-fold subject-independent evaluation for generalisation.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220000" y="16740000"/>
            <a:ext cx="9803999" cy="503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36000" bIns="360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20000" y="17316000"/>
            <a:ext cx="9803999" cy="86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202020"/>
                </a:solidFill>
                <a:latin typeface="Calibri"/>
              </a:rPr>
              <a:t>[1] Lee, Shomanov et al. EAV: EEG-Audio-Video Dataset. Sci. Data, 2024.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202020"/>
                </a:solidFill>
                <a:latin typeface="Calibri"/>
              </a:rPr>
              <a:t>[2] Yin et al. AMERL: Attention-based Multimodal Emotion Recognition. arXiv:2411.00822, 2024.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202020"/>
                </a:solidFill>
                <a:latin typeface="Calibri"/>
              </a:rPr>
              <a:t>[3] Kang et al. Hypergraph Multi-Modal Learning for EEG-based Emotion Recognition. arXiv:2502.21154, 2025.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202020"/>
                </a:solidFill>
                <a:latin typeface="Calibri"/>
              </a:rPr>
              <a:t>[4] EEG-MoCE: Hyperbolic Mixture-of-Curvature Experts. arXiv:2604.12579, 2026.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202020"/>
                </a:solidFill>
                <a:latin typeface="Calibri"/>
              </a:rPr>
              <a:t>[5] Lee, Kim, Kim. Emotion Recognition Using EEG and Audiovisual Features with Contrastive Learning. Bioengineering, 2024.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202020"/>
                </a:solidFill>
                <a:latin typeface="Calibri"/>
              </a:rPr>
              <a:t>[6] Chumachenko et al. Self-Attention Fusion for Audiovisual Emotion Recognition with Incomplete Data. ICPR, 2022.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202020"/>
                </a:solidFill>
                <a:latin typeface="Calibri"/>
              </a:rPr>
              <a:t>[7] Vaswani et al. Attention Is All You Need. NeurIPS, 2017.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202020"/>
                </a:solidFill>
                <a:latin typeface="Calibri"/>
              </a:rPr>
              <a:t>[8] Gong, Chung, Glass. AST: Audio Spectrogram Transformer. Interspeech, 2021.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202020"/>
                </a:solidFill>
                <a:latin typeface="Calibri"/>
              </a:rPr>
              <a:t>[9] Lawhern et al. EEGNet: A Compact Convolutional Network for EEG-based BCIs. J. Neural Eng.,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