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90000"/>
            <a:ext cx="11977199" cy="360000"/>
          </a:xfrm>
          <a:prstGeom prst="rect">
            <a:avLst/>
          </a:prstGeom>
          <a:solidFill>
            <a:srgbClr val="1A3A5C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AST  —  Audio Spectrogram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468000"/>
            <a:ext cx="11977199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Audio modality encoder  ·  16:9 widescreen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720000"/>
            <a:ext cx="4500000" cy="324000"/>
          </a:xfrm>
          <a:prstGeom prst="rect">
            <a:avLst/>
          </a:prstGeom>
          <a:solidFill>
            <a:srgbClr val="FDF1E0"/>
          </a:solidFill>
          <a:ln w="317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INPUT  ·  5 s audio clip @ 16 kHz mono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0" y="1044000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0000" y="1278000"/>
            <a:ext cx="4500000" cy="36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AST feature extractor  (Hugging Face)</a:t>
            </a:r>
          </a:p>
          <a:p>
            <a:pPr algn="ctr"/>
            <a:r>
              <a:rPr sz="1050" b="0" i="0">
                <a:solidFill>
                  <a:srgbClr val="202020"/>
                </a:solidFill>
              </a:rPr>
              <a:t>Log-mel spectrogram, 128-bin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0" y="1638000"/>
            <a:ext cx="0" cy="197999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30000" y="1655999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(T × 128),  T ≈ 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000" y="1890000"/>
            <a:ext cx="4500000" cy="360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Patch embedding</a:t>
            </a:r>
          </a:p>
          <a:p>
            <a:pPr algn="ctr"/>
            <a:r>
              <a:rPr sz="1050" b="0" i="0">
                <a:solidFill>
                  <a:srgbClr val="202020"/>
                </a:solidFill>
              </a:rPr>
              <a:t>16 × 16 patches, stride (10, 10)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0" y="2250000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30000" y="2268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(N_patches, 768)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000" y="2502000"/>
            <a:ext cx="4500000" cy="28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Prepend [CLS] token  +  position embeddings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0" y="2790000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30000" y="2808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(1 + N_patches, 768)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000" y="3041999"/>
            <a:ext cx="4500000" cy="360000"/>
          </a:xfrm>
          <a:prstGeom prst="roundRect">
            <a:avLst/>
          </a:prstGeom>
          <a:solidFill>
            <a:srgbClr val="0F2540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Transformer Encoder  ·  × 12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000" y="3420000"/>
            <a:ext cx="180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1" i="1">
                <a:solidFill>
                  <a:srgbClr val="C87F12"/>
                </a:solidFill>
              </a:rPr>
              <a:t>→ see right-side per-layer detail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20000" y="3401999"/>
            <a:ext cx="0" cy="198001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0000" y="3653999"/>
            <a:ext cx="4500000" cy="28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Extract  [CLS]  token  only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20000" y="3941999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30000" y="3959999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(768,)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" y="4212000"/>
            <a:ext cx="4860000" cy="396000"/>
          </a:xfrm>
          <a:prstGeom prst="rect">
            <a:avLst/>
          </a:prstGeom>
          <a:solidFill>
            <a:srgbClr val="FDF1E0"/>
          </a:solidFill>
          <a:ln w="381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AUDIO  EMBEDDING   ·   768-dim   →   to fusion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20000" y="4608000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0000" y="4878000"/>
            <a:ext cx="4500000" cy="288000"/>
          </a:xfrm>
          <a:prstGeom prst="roundRect">
            <a:avLst/>
          </a:prstGeom>
          <a:solidFill>
            <a:srgbClr val="D4EDDA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Linear ( 768 → 5 )  →  audio logits   (per-modality CE loss)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0000" y="720000"/>
            <a:ext cx="6732000" cy="3420000"/>
          </a:xfrm>
          <a:prstGeom prst="roundRect">
            <a:avLst/>
          </a:prstGeom>
          <a:solidFill>
            <a:srgbClr val="EEF3FA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0000" y="774000"/>
            <a:ext cx="6732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Transformer Encoder  ·  per-layer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0" y="972000"/>
            <a:ext cx="6732000" cy="144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(pre-LN order, repeated × 12)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0000" y="1071000"/>
            <a:ext cx="5832000" cy="306000"/>
          </a:xfrm>
          <a:prstGeom prst="roundRect">
            <a:avLst/>
          </a:prstGeom>
          <a:solidFill>
            <a:srgbClr val="0F2540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Multi-Head Self-Attention   ·   12 heads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86000" y="1377000"/>
            <a:ext cx="0" cy="188999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70000" y="1512000"/>
            <a:ext cx="5832000" cy="251999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+ residual  →  LayerNorm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86000" y="1763999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70000" y="1845000"/>
            <a:ext cx="5832000" cy="306000"/>
          </a:xfrm>
          <a:prstGeom prst="roundRect">
            <a:avLst/>
          </a:prstGeom>
          <a:solidFill>
            <a:srgbClr val="2E7EB8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FFN ( 768 → 3072 → 768 )   ·   GELU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86000" y="2151000"/>
            <a:ext cx="0" cy="189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670000" y="2286000"/>
            <a:ext cx="5832000" cy="251999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+ residual  →  LayerNorm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0000" y="2771999"/>
            <a:ext cx="6732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1" i="1">
                <a:solidFill>
                  <a:srgbClr val="1A3A5C"/>
                </a:solidFill>
              </a:rPr>
              <a:t>(stack of 12 identical layers)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20000" y="4320000"/>
            <a:ext cx="6732000" cy="14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8000" y="4392000"/>
            <a:ext cx="6515999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MODEL 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0" y="4608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Checkpoint: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0000" y="4608000"/>
            <a:ext cx="493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MIT/ast-finetuned-audioset-10-10-0.4593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0" y="4806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Parameters: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0000" y="4806000"/>
            <a:ext cx="493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≈ 87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0" y="5004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Pre-training: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0000" y="5004000"/>
            <a:ext cx="493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AudioSet  (2 M clips, 527 classes)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0" y="5202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Fine-tune: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0000" y="5202000"/>
            <a:ext cx="493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5 frozen + 5 fine-tune epochs per subject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0" y="5400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Optimiser: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0000" y="5400000"/>
            <a:ext cx="493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Adam  ·  batch size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90000"/>
            <a:ext cx="11977199" cy="360000"/>
          </a:xfrm>
          <a:prstGeom prst="rect">
            <a:avLst/>
          </a:prstGeom>
          <a:solidFill>
            <a:srgbClr val="1A3A5C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ViT  —  Facial-Emotion Vision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468000"/>
            <a:ext cx="11977199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Vision modality encoder  ·  16:9 widescreen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720000"/>
            <a:ext cx="4500000" cy="324000"/>
          </a:xfrm>
          <a:prstGeom prst="rect">
            <a:avLst/>
          </a:prstGeom>
          <a:solidFill>
            <a:srgbClr val="FDF1E0"/>
          </a:solidFill>
          <a:ln w="317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50" b="1" i="0">
                <a:solidFill>
                  <a:srgbClr val="1A3A5C"/>
                </a:solidFill>
              </a:rPr>
              <a:t>INPUT  ·  5 s video, 25 frames @ 5 fps,  224 × 224 ×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0" y="1044000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70000" y="1062000"/>
            <a:ext cx="180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(25, 3, 224, 224)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00" y="1368000"/>
            <a:ext cx="4500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1" i="1">
                <a:solidFill>
                  <a:srgbClr val="1A3A5C"/>
                </a:solidFill>
              </a:rPr>
              <a:t>── per-frame loop  ( × 25 frames ) ──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0" y="1548000"/>
            <a:ext cx="0" cy="197999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0000" y="1800000"/>
            <a:ext cx="4500000" cy="28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HF image processor  ·  normalise (μ, σ) per channel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0" y="2088000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0000" y="2322000"/>
            <a:ext cx="4500000" cy="360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Patch embedding  ·  16 × 16 patches  →  196 patches</a:t>
            </a:r>
          </a:p>
          <a:p>
            <a:pPr algn="ctr"/>
            <a:r>
              <a:rPr sz="1050" b="0" i="0">
                <a:solidFill>
                  <a:srgbClr val="202020"/>
                </a:solidFill>
              </a:rPr>
              <a:t>linear projection → 768-d per patch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0" y="2682000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30000" y="2700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(196, 768)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000" y="2934000"/>
            <a:ext cx="4500000" cy="28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Prepend [CLS]  +  position embeddings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0" y="3222000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0000" y="3474000"/>
            <a:ext cx="4500000" cy="360000"/>
          </a:xfrm>
          <a:prstGeom prst="roundRect">
            <a:avLst/>
          </a:prstGeom>
          <a:solidFill>
            <a:srgbClr val="0F2540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Transformer Encoder  ·  × 12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000" y="3852000"/>
            <a:ext cx="180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1" i="1">
                <a:solidFill>
                  <a:srgbClr val="C87F12"/>
                </a:solidFill>
              </a:rPr>
              <a:t>→ see right-side per-layer detail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20000" y="3834000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30000" y="3852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[CLS] per 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" y="4076999"/>
            <a:ext cx="4860000" cy="306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Mean-pool [CLS] tokens across  25 frames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20000" y="4383000"/>
            <a:ext cx="0" cy="189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30000" y="4392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(768,)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" y="4626000"/>
            <a:ext cx="4860000" cy="396000"/>
          </a:xfrm>
          <a:prstGeom prst="rect">
            <a:avLst/>
          </a:prstGeom>
          <a:solidFill>
            <a:srgbClr val="FDF1E0"/>
          </a:solidFill>
          <a:ln w="381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VISION  EMBEDDING   ·   768-dim   →   to 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0000" y="720000"/>
            <a:ext cx="6732000" cy="3420000"/>
          </a:xfrm>
          <a:prstGeom prst="roundRect">
            <a:avLst/>
          </a:prstGeom>
          <a:solidFill>
            <a:srgbClr val="EEF3FA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0000" y="774000"/>
            <a:ext cx="6732000" cy="198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Transformer Encoder  ·  per-layer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0" y="972000"/>
            <a:ext cx="6732000" cy="144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(pre-LN order, repeated × 12)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0000" y="1071000"/>
            <a:ext cx="5832000" cy="306000"/>
          </a:xfrm>
          <a:prstGeom prst="roundRect">
            <a:avLst/>
          </a:prstGeom>
          <a:solidFill>
            <a:srgbClr val="0F2540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Multi-Head Self-Attention   ·   12 heads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86000" y="1377000"/>
            <a:ext cx="0" cy="188999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70000" y="1512000"/>
            <a:ext cx="5832000" cy="251999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+ residual  →  LayerNorm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86000" y="1763999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70000" y="1845000"/>
            <a:ext cx="5832000" cy="306000"/>
          </a:xfrm>
          <a:prstGeom prst="roundRect">
            <a:avLst/>
          </a:prstGeom>
          <a:solidFill>
            <a:srgbClr val="2E7EB8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FFN ( 768 → 3072 → 768 )   ·   GELU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86000" y="2151000"/>
            <a:ext cx="0" cy="189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670000" y="2286000"/>
            <a:ext cx="5832000" cy="251999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+ residual  →  LayerNorm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0000" y="2771999"/>
            <a:ext cx="6732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1" i="1">
                <a:solidFill>
                  <a:srgbClr val="1A3A5C"/>
                </a:solidFill>
              </a:rPr>
              <a:t>(stack of 12 identical layers)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20000" y="4320000"/>
            <a:ext cx="6732000" cy="14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8000" y="4392000"/>
            <a:ext cx="6515999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MODEL 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0" y="4608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Checkpoint: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0000" y="4608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dima806/facial_emotions_image_detection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0" y="4806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Parameters: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0000" y="4806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≈ 86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0" y="5004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Pre-training: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0000" y="5004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7-class facial expressions, re-head to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0" y="5202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Fine-tune: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0000" y="5202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3 frozen + 2 fine-tune epochs per subject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0" y="5400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Per-clip: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0000" y="5400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Bag-of-frames mean over 25 frames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90000"/>
            <a:ext cx="11977199" cy="360000"/>
          </a:xfrm>
          <a:prstGeom prst="rect">
            <a:avLst/>
          </a:prstGeom>
          <a:solidFill>
            <a:srgbClr val="1A3A5C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EEGNet  —  Depthwise Separable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468000"/>
            <a:ext cx="11977199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EEG modality encoder  ·  16:9 widescreen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720000"/>
            <a:ext cx="4500000" cy="324000"/>
          </a:xfrm>
          <a:prstGeom prst="rect">
            <a:avLst/>
          </a:prstGeom>
          <a:solidFill>
            <a:srgbClr val="FDF1E0"/>
          </a:solidFill>
          <a:ln w="317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INPUT  ·  5 s EEG, 30 channels @ 100 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0000" y="1062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(1, 30, 500)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0" y="1044000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0000" y="1278000"/>
            <a:ext cx="4500000" cy="503999"/>
          </a:xfrm>
          <a:prstGeom prst="roundRect">
            <a:avLst/>
          </a:prstGeom>
          <a:solidFill>
            <a:srgbClr val="0F2540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BLOCK 1   ·   Temporal + Spatial Filtering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(see right-side expansion)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0" y="1781999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30000" y="1781999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(64, 1, 125)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000" y="2015999"/>
            <a:ext cx="4500000" cy="503999"/>
          </a:xfrm>
          <a:prstGeom prst="roundRect">
            <a:avLst/>
          </a:prstGeom>
          <a:solidFill>
            <a:srgbClr val="0F2540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BLOCK 2   ·   Pointwise Separable Conv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(see right-side expansion)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0" y="2520000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30000" y="2520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(64, 1, 15)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2744999"/>
            <a:ext cx="4500000" cy="306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Flatten   ·   64 × 1 × 15  →  960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3051000"/>
            <a:ext cx="0" cy="189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30000" y="3060000"/>
            <a:ext cx="144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(960,)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00" y="3293999"/>
            <a:ext cx="4860000" cy="396000"/>
          </a:xfrm>
          <a:prstGeom prst="rect">
            <a:avLst/>
          </a:prstGeom>
          <a:solidFill>
            <a:srgbClr val="FDF1E0"/>
          </a:solidFill>
          <a:ln w="381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EEG  EMBEDDING   ·   960-dim   →   to fusion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20000" y="3689999"/>
            <a:ext cx="0" cy="198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0000" y="3959999"/>
            <a:ext cx="4500000" cy="288000"/>
          </a:xfrm>
          <a:prstGeom prst="roundRect">
            <a:avLst/>
          </a:prstGeom>
          <a:solidFill>
            <a:srgbClr val="D4EDDA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Linear ( 960 → 5 )  →  EEG logits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20000" y="720000"/>
            <a:ext cx="6732000" cy="2232000"/>
          </a:xfrm>
          <a:prstGeom prst="roundRect">
            <a:avLst/>
          </a:prstGeom>
          <a:solidFill>
            <a:srgbClr val="EEF3FA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000" y="774000"/>
            <a:ext cx="6732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BLOCK 1   ·   Temporal + Spatial Filtering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80000" y="909000"/>
            <a:ext cx="6012000" cy="234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00" b="0" i="0">
                <a:solidFill>
                  <a:srgbClr val="202020"/>
                </a:solidFill>
              </a:rPr>
              <a:t>Conv2D ( 1 → 8,  kernel = (1, 300),  pad = same 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86000" y="1143000"/>
            <a:ext cx="0" cy="153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80000" y="1251000"/>
            <a:ext cx="6012000" cy="19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BatchNorm2D ( 8 )  →  ELU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86000" y="1449000"/>
            <a:ext cx="0" cy="171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80000" y="1557000"/>
            <a:ext cx="6012000" cy="234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00" b="0" i="0">
                <a:solidFill>
                  <a:srgbClr val="202020"/>
                </a:solidFill>
              </a:rPr>
              <a:t>DepthwiseConv2D ( 8 → 64,  kernel = (30, 1),  groups = 8 )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86000" y="1791000"/>
            <a:ext cx="0" cy="153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580000" y="1899000"/>
            <a:ext cx="6012000" cy="19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BatchNorm2D ( 64 )  →  ELU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86000" y="2097000"/>
            <a:ext cx="0" cy="171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580000" y="2223000"/>
            <a:ext cx="6012000" cy="19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AvgPool2D ( (1, 4) )  →  Dropout ( 0.5 )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20000" y="3060000"/>
            <a:ext cx="6732000" cy="1584000"/>
          </a:xfrm>
          <a:prstGeom prst="roundRect">
            <a:avLst/>
          </a:prstGeom>
          <a:solidFill>
            <a:srgbClr val="EEF3FA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0000" y="3114000"/>
            <a:ext cx="6732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BLOCK 2   ·   Pointwise Separable Conv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0000" y="3249000"/>
            <a:ext cx="6012000" cy="234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00" b="0" i="0">
                <a:solidFill>
                  <a:srgbClr val="202020"/>
                </a:solidFill>
              </a:rPr>
              <a:t>Conv2D ( 64 → 64,  kernel = (1, 16),  pad = same 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86000" y="3482999"/>
            <a:ext cx="0" cy="153001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580000" y="3591000"/>
            <a:ext cx="6012000" cy="19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BatchNorm2D ( 64 )  →  ELU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86000" y="3789000"/>
            <a:ext cx="0" cy="171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580000" y="3915000"/>
            <a:ext cx="6012000" cy="19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AvgPool2D ( (1, 8) )  →  Dropout ( 0.5 )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20000" y="4824000"/>
            <a:ext cx="6732000" cy="14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8000" y="4878000"/>
            <a:ext cx="6515999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MODEL 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0" y="5076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Architecture: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0000" y="5076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EEGNet  ·  F1=8, D=8, F2=64, kernLength=300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0" y="5256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Parameters: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0000" y="5256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≈ 2.2 M  ·  trained from random init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0" y="5436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Training: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0000" y="5436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350 epochs per subject  ·  Adam, lr=1e-4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0" y="5616000"/>
            <a:ext cx="1620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Regularisation: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0000" y="5616000"/>
            <a:ext cx="4752000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</a:rPr>
              <a:t>Dropout 0.5  ·  L2 max-norm hooks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90000"/>
            <a:ext cx="11977199" cy="360000"/>
          </a:xfrm>
          <a:prstGeom prst="rect">
            <a:avLst/>
          </a:prstGeom>
          <a:solidFill>
            <a:srgbClr val="1A3A5C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TrimodalAttentionFusion  —  Self-Attention over Modality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468000"/>
            <a:ext cx="11977199" cy="162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Trimodal fusion module  ·  2.28 M trainable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0000" y="792000"/>
            <a:ext cx="2340000" cy="360000"/>
          </a:xfrm>
          <a:prstGeom prst="rect">
            <a:avLst/>
          </a:prstGeom>
          <a:solidFill>
            <a:srgbClr val="FDF1E0"/>
          </a:solidFill>
          <a:ln w="254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x_audio   from AST</a:t>
            </a:r>
          </a:p>
          <a:p>
            <a:pPr algn="ctr"/>
            <a:r>
              <a:rPr sz="1100" b="1" i="0">
                <a:solidFill>
                  <a:srgbClr val="1A3A5C"/>
                </a:solidFill>
              </a:rPr>
              <a:t>(768,)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80000" y="1152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10000" y="792000"/>
            <a:ext cx="2340000" cy="360000"/>
          </a:xfrm>
          <a:prstGeom prst="rect">
            <a:avLst/>
          </a:prstGeom>
          <a:solidFill>
            <a:srgbClr val="FDF1E0"/>
          </a:solidFill>
          <a:ln w="254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x_vision   from ViT</a:t>
            </a:r>
          </a:p>
          <a:p>
            <a:pPr algn="ctr"/>
            <a:r>
              <a:rPr sz="1100" b="1" i="0">
                <a:solidFill>
                  <a:srgbClr val="1A3A5C"/>
                </a:solidFill>
              </a:rPr>
              <a:t>(768,)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80000" y="1152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210000" y="792000"/>
            <a:ext cx="2340000" cy="360000"/>
          </a:xfrm>
          <a:prstGeom prst="rect">
            <a:avLst/>
          </a:prstGeom>
          <a:solidFill>
            <a:srgbClr val="FDF1E0"/>
          </a:solidFill>
          <a:ln w="254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x_eeg   from EEGNet</a:t>
            </a:r>
          </a:p>
          <a:p>
            <a:pPr algn="ctr"/>
            <a:r>
              <a:rPr sz="1100" b="1" i="0">
                <a:solidFill>
                  <a:srgbClr val="1A3A5C"/>
                </a:solidFill>
              </a:rPr>
              <a:t>(960,)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80000" y="1152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0000" y="1332000"/>
            <a:ext cx="2340000" cy="288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Linear ( 768 → 256 )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0000" y="1620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10000" y="1332000"/>
            <a:ext cx="2340000" cy="288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Linear ( 768 → 256 )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80000" y="1620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0000" y="1332000"/>
            <a:ext cx="2340000" cy="288000"/>
          </a:xfrm>
          <a:prstGeom prst="roundRect">
            <a:avLst/>
          </a:prstGeom>
          <a:solidFill>
            <a:srgbClr val="D9E7F5"/>
          </a:solidFill>
          <a:ln w="15875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Linear ( 960 → 256 )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80000" y="1620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4000" y="1404000"/>
            <a:ext cx="1655999" cy="251999"/>
          </a:xfrm>
          <a:prstGeom prst="rect">
            <a:avLst/>
          </a:prstGeom>
          <a:noFill/>
        </p:spPr>
        <p:txBody>
          <a:bodyPr wrap="square" lIns="18000" rIns="18000" tIns="10800" bIns="10800" anchor="ctr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Stage 1</a:t>
            </a:r>
          </a:p>
          <a:p>
            <a:pPr algn="l"/>
            <a:r>
              <a:rPr sz="1000" b="1" i="0">
                <a:solidFill>
                  <a:srgbClr val="1A3A5C"/>
                </a:solidFill>
              </a:rPr>
              <a:t>Projection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" y="1818000"/>
            <a:ext cx="2340000" cy="36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+ modality_embed[0]</a:t>
            </a:r>
          </a:p>
          <a:p>
            <a:pPr algn="ctr"/>
            <a:r>
              <a:rPr sz="950" b="0" i="0">
                <a:solidFill>
                  <a:srgbClr val="202020"/>
                </a:solidFill>
              </a:rPr>
              <a:t>LayerNorm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0000" y="1818000"/>
            <a:ext cx="2340000" cy="36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+ modality_embed[1]</a:t>
            </a:r>
          </a:p>
          <a:p>
            <a:pPr algn="ctr"/>
            <a:r>
              <a:rPr sz="950" b="0" i="0">
                <a:solidFill>
                  <a:srgbClr val="202020"/>
                </a:solidFill>
              </a:rPr>
              <a:t>LayerNorm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000" y="1818000"/>
            <a:ext cx="2340000" cy="36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950" b="0" i="0">
                <a:solidFill>
                  <a:srgbClr val="202020"/>
                </a:solidFill>
              </a:rPr>
              <a:t>+ modality_embed[2]</a:t>
            </a:r>
          </a:p>
          <a:p>
            <a:pPr algn="ctr"/>
            <a:r>
              <a:rPr sz="950" b="0" i="0">
                <a:solidFill>
                  <a:srgbClr val="202020"/>
                </a:solidFill>
              </a:rPr>
              <a:t>LayerNorm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" y="1890000"/>
            <a:ext cx="1655999" cy="306000"/>
          </a:xfrm>
          <a:prstGeom prst="rect">
            <a:avLst/>
          </a:prstGeom>
          <a:noFill/>
        </p:spPr>
        <p:txBody>
          <a:bodyPr wrap="square" lIns="18000" rIns="18000" tIns="10800" bIns="10800" anchor="ctr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Stage 2</a:t>
            </a:r>
          </a:p>
          <a:p>
            <a:pPr algn="l"/>
            <a:r>
              <a:rPr sz="1000" b="1" i="0">
                <a:solidFill>
                  <a:srgbClr val="1A3A5C"/>
                </a:solidFill>
              </a:rPr>
              <a:t>Modality</a:t>
            </a:r>
          </a:p>
          <a:p>
            <a:pPr algn="l"/>
            <a:r>
              <a:rPr sz="1000" b="1" i="0">
                <a:solidFill>
                  <a:srgbClr val="1A3A5C"/>
                </a:solidFill>
              </a:rPr>
              <a:t>embedding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80000" y="2178000"/>
            <a:ext cx="2700000" cy="25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80000" y="2178000"/>
            <a:ext cx="0" cy="25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680000" y="2178000"/>
            <a:ext cx="2700000" cy="25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0" y="2484000"/>
            <a:ext cx="9360000" cy="28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Stack into sequence  ·  tokens = [audio_tok, vision_tok, eeg_tok]  ·  shape (B, 3, 256)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80000" y="2772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0" y="2970000"/>
            <a:ext cx="9360000" cy="39600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Softhard Modality Dropout  ·  (training only)</a:t>
            </a:r>
          </a:p>
          <a:p>
            <a:pPr algn="ctr"/>
            <a:r>
              <a:rPr sz="1100" b="1" i="0">
                <a:solidFill>
                  <a:srgbClr val="202020"/>
                </a:solidFill>
              </a:rPr>
              <a:t>with p = 1/3   ·   pick m ∈ {audio, vision, eeg}   ·   zero its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0000" y="3168000"/>
            <a:ext cx="1440000" cy="324000"/>
          </a:xfrm>
          <a:prstGeom prst="rect">
            <a:avLst/>
          </a:prstGeom>
          <a:noFill/>
        </p:spPr>
        <p:txBody>
          <a:bodyPr wrap="square" lIns="18000" rIns="18000" tIns="10800" bIns="10800" anchor="ctr">
            <a:spAutoFit/>
          </a:bodyPr>
          <a:lstStyle/>
          <a:p>
            <a:pPr algn="l"/>
            <a:r>
              <a:rPr sz="1000" b="1" i="1">
                <a:solidFill>
                  <a:srgbClr val="C87F12"/>
                </a:solidFill>
              </a:rPr>
              <a:t>Stage 2.5</a:t>
            </a:r>
          </a:p>
          <a:p>
            <a:pPr algn="l"/>
            <a:r>
              <a:rPr sz="1000" b="1" i="1">
                <a:solidFill>
                  <a:srgbClr val="C87F12"/>
                </a:solidFill>
              </a:rPr>
              <a:t>robustness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80000" y="3366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-360000" y="3564000"/>
            <a:ext cx="10080000" cy="756000"/>
          </a:xfrm>
          <a:prstGeom prst="roundRect">
            <a:avLst/>
          </a:prstGeom>
          <a:solidFill>
            <a:srgbClr val="EEF3FA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0" i="0">
                <a:solidFill>
                  <a:srgbClr val="202020"/>
                </a:solidFill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0" y="3618000"/>
            <a:ext cx="9360000" cy="180000"/>
          </a:xfrm>
          <a:prstGeom prst="rect">
            <a:avLst/>
          </a:prstGeom>
          <a:noFill/>
        </p:spPr>
        <p:txBody>
          <a:bodyPr wrap="square" lIns="18000" rIns="18000" tIns="10800" bIns="10800" anchor="t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</a:rPr>
              <a:t>Stage 3   ·   Transformer Encoder   ·   × 2 layers   (pre-LN)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20000" y="3870000"/>
            <a:ext cx="1872000" cy="360000"/>
          </a:xfrm>
          <a:prstGeom prst="roundRect">
            <a:avLst/>
          </a:prstGeom>
          <a:solidFill>
            <a:srgbClr val="0F2540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LayerNorm  →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Multi-Head SA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8 heads, d = 32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91999" y="4050000"/>
            <a:ext cx="252000" cy="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43999" y="3870000"/>
            <a:ext cx="1872000" cy="36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00" b="0" i="0">
                <a:solidFill>
                  <a:srgbClr val="202020"/>
                </a:solidFill>
              </a:rPr>
              <a:t>+ residual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15999" y="4050000"/>
            <a:ext cx="252000" cy="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67999" y="3870000"/>
            <a:ext cx="1872000" cy="360000"/>
          </a:xfrm>
          <a:prstGeom prst="roundRect">
            <a:avLst/>
          </a:prstGeom>
          <a:solidFill>
            <a:srgbClr val="2E7EB8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LayerNorm  →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FFN ( 256 → 1024 → 256 )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GELU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39999" y="4050000"/>
            <a:ext cx="252000" cy="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991999" y="3870000"/>
            <a:ext cx="1872000" cy="36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00" b="0" i="0">
                <a:solidFill>
                  <a:srgbClr val="202020"/>
                </a:solidFill>
              </a:rPr>
              <a:t>+ residual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80000" y="4320000"/>
            <a:ext cx="0" cy="180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-360000" y="4590000"/>
            <a:ext cx="10080000" cy="288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050" b="0" i="0">
                <a:solidFill>
                  <a:srgbClr val="202020"/>
                </a:solidFill>
              </a:rPr>
              <a:t>Stage 4   ·   Extract per-modality embeddings  +  mean-pool fused embedding (B, 256)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80000" y="4878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800000" y="5094000"/>
            <a:ext cx="5760000" cy="360000"/>
          </a:xfrm>
          <a:prstGeom prst="rect">
            <a:avLst/>
          </a:prstGeom>
          <a:solidFill>
            <a:srgbClr val="FDF1E0"/>
          </a:solidFill>
          <a:ln w="3810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FUSED  EMBEDDING   ·   256-dim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80000" y="5454000"/>
            <a:ext cx="0" cy="162000"/>
          </a:xfrm>
          <a:prstGeom prst="line">
            <a:avLst/>
          </a:prstGeom>
          <a:ln w="19050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-360000" y="5652000"/>
            <a:ext cx="10080000" cy="288000"/>
          </a:xfrm>
          <a:prstGeom prst="roundRect">
            <a:avLst/>
          </a:prstGeom>
          <a:solidFill>
            <a:srgbClr val="D4EDDA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 i="0">
                <a:solidFill>
                  <a:srgbClr val="202020"/>
                </a:solidFill>
              </a:rPr>
              <a:t>Stage 5   ·   MLP head   Linear(256 → 256) → GELU → Dropout(0.1) → Linear(256 → 5)   →   logits (B, 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