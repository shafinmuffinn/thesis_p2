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37719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900000"/>
            <a:ext cx="11113200" cy="12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Cross-Modal Affective Coherence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088000"/>
            <a:ext cx="11113200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200" b="0" i="1">
                <a:solidFill>
                  <a:srgbClr val="D9E7F5"/>
                </a:solidFill>
                <a:latin typeface="Calibri"/>
              </a:rPr>
              <a:t>Detecting Discrepancies Between Externally Expressed and Internally Experienced Emotion Using EEG, Audio, and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320000"/>
            <a:ext cx="121932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1A3A5C"/>
                </a:solidFill>
                <a:latin typeface="Calibri"/>
              </a:rPr>
              <a:t>Shafin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24000"/>
            <a:ext cx="121932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0" i="0">
                <a:solidFill>
                  <a:srgbClr val="202020"/>
                </a:solidFill>
                <a:latin typeface="Calibri"/>
              </a:rPr>
              <a:t>[Institution name — to be filled in]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220000"/>
            <a:ext cx="121932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600" b="0" i="1">
                <a:solidFill>
                  <a:srgbClr val="666666"/>
                </a:solidFill>
                <a:latin typeface="Calibri"/>
              </a:rPr>
              <a:t>Pre-thesis 2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Calibri"/>
              </a:rPr>
              <a:t>Emotion recognition systems must address two distinct problems: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152000"/>
            <a:ext cx="11473200" cy="12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What emotion is the subject displaying?  (classification)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Does the displayed emotion match what they are internally feeling?  (coherence)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5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0" i="1">
                <a:solidFill>
                  <a:srgbClr val="666666"/>
                </a:solidFill>
                <a:latin typeface="Calibri"/>
              </a:rPr>
              <a:t>The second question is largely unaddressed in the literature.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3060000"/>
            <a:ext cx="11113200" cy="90000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54000" bIns="54000"/>
          <a:lstStyle/>
          <a:p>
            <a:pPr algn="ctr"/>
            <a:r>
              <a:rPr sz="1800" b="0">
                <a:solidFill>
                  <a:srgbClr val="202020"/>
                </a:solidFill>
                <a:latin typeface="Calibri"/>
              </a:rPr>
              <a:t>Audio and video capture voluntary, controllable external expression.
EEG captures involuntary internal physiological state.
Cross-modal disagreement is itself a clinically meaningful signal.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4140000"/>
            <a:ext cx="11617199" cy="180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1">
                <a:solidFill>
                  <a:srgbClr val="202020"/>
                </a:solidFill>
                <a:latin typeface="Calibri"/>
              </a:rPr>
              <a:t>Real-world relevance: emotion suppression is documented in depression, anxiety, alexithymia, PTSD, and autism spectrum conditions. A method that quantifies cross-modal divergence in a healthy population establishes the foundation for clinical Phase 2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900000"/>
            <a:ext cx="11473200" cy="50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1.  Per-modality baselines: Can audio, video and EEG individually exceed the EAV paper's published per-modality baselines?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2.  Fusion gain: Does multimodal fusion improve over the best single modality, and by how much?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3.  Architectural contribution: Does learned cross-modal attention fusion outperform a naïve softmax-averaging late-fusion baseline?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4.  Coherence as signal: When the modalities disagree, do consistent and interpretable cross-population patterns emerge?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5.  Robustness: Does the system continue to produce meaningful predictions when one modality (specifically EEG) is unavailable at inference time?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Dataset — EAV (Lee et al., Sci. Data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92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0" i="0">
                <a:solidFill>
                  <a:srgbClr val="202020"/>
                </a:solidFill>
                <a:latin typeface="Calibri"/>
              </a:rPr>
              <a:t>EAV: EEG-Audio-Video dataset for emotion recognition in conversational contexts.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1260000"/>
          <a:ext cx="50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Participants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42 (lab-controlled, cued)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Emotion classes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5 (Neutral, Sad, Angry, Happy, Calm)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Interactions / subject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200 (Listen + Speak)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EEG channels / rate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30 ch / 500 Hz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Audio rate / segment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16 kHz / 5 s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Video resolution / fps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224×224 (cropped) / 30 fps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Per-subject train/test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280 / 120 trials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Total test trials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5,040 (42 × 120)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0000" y="1260000"/>
            <a:ext cx="57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1A3A5C"/>
                </a:solidFill>
                <a:latin typeface="Calibri"/>
              </a:rPr>
              <a:t>Why EAV?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1620000"/>
            <a:ext cx="5760000" cy="32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•  Only public corpus combining EEG + AV at 42-subject scale.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•  Synchronised acquisition: labels apply uniformly across modalities.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•  Conversational cue-based protocol elicits all 5 emotions controllably.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  <a:latin typeface="Calibri"/>
              </a:rPr>
              <a:t>•  EAV authors published per-modality baselines (SCNN, DeepFace, EEGNet); no fusion baseline reported.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Methodology — Three-Stage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440000"/>
            <a:ext cx="3420000" cy="1260000"/>
          </a:xfrm>
          <a:prstGeom prst="rect">
            <a:avLst/>
          </a:prstGeom>
          <a:solidFill>
            <a:srgbClr val="D9E7F5"/>
          </a:solidFill>
          <a:ln w="19050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600" b="1">
                <a:solidFill>
                  <a:srgbClr val="1A3A5C"/>
                </a:solidFill>
                <a:latin typeface="Calibri"/>
              </a:rPr>
              <a:t>Stage 1
Per-Modality Encoders
(AST · ViT · EEGNet)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1440000"/>
            <a:ext cx="3420000" cy="1260000"/>
          </a:xfrm>
          <a:prstGeom prst="rect">
            <a:avLst/>
          </a:prstGeom>
          <a:solidFill>
            <a:srgbClr val="D9E7F5"/>
          </a:solidFill>
          <a:ln w="19050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600" b="1">
                <a:solidFill>
                  <a:srgbClr val="1A3A5C"/>
                </a:solidFill>
                <a:latin typeface="Calibri"/>
              </a:rPr>
              <a:t>Stage 2
Trimodal Cross-Attention
Fusion 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80000" y="1440000"/>
            <a:ext cx="3420000" cy="1260000"/>
          </a:xfrm>
          <a:prstGeom prst="rect">
            <a:avLst/>
          </a:prstGeom>
          <a:solidFill>
            <a:srgbClr val="D9E7F5"/>
          </a:solidFill>
          <a:ln w="19050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600" b="1">
                <a:solidFill>
                  <a:srgbClr val="1A3A5C"/>
                </a:solidFill>
                <a:latin typeface="Calibri"/>
              </a:rPr>
              <a:t>Stage 3
Coherence Analysis
(Suppression Matrix)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80000" y="2070000"/>
            <a:ext cx="540000" cy="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40000" y="2070000"/>
            <a:ext cx="540000" cy="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8000" y="306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0" i="1">
                <a:solidFill>
                  <a:srgbClr val="202020"/>
                </a:solidFill>
                <a:latin typeface="Calibri"/>
              </a:rPr>
              <a:t>Two stages classify; the third characterises modality disagreement.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360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  <a:latin typeface="Calibri"/>
              </a:rPr>
              <a:t>Two architectural commitments (load-bearing for the demo):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4031999"/>
            <a:ext cx="11113200" cy="18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forward() returns named per-modality embeddings → future temporal head requires no rewrite.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02020"/>
                </a:solidFill>
                <a:latin typeface="Calibri"/>
              </a:rPr>
              <a:t>•  forward(audio, video, eeg=zeros) is a valid call → enables EEG-missing inference at the demo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Proposed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  <a:latin typeface="Calibri"/>
              </a:rPr>
              <a:t>TrimodalAttentionFusion (2.28M parameters):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60000"/>
            <a:ext cx="1800000" cy="576000"/>
          </a:xfrm>
          <a:prstGeom prst="rect">
            <a:avLst/>
          </a:prstGeom>
          <a:solidFill>
            <a:srgbClr val="D9E7F5"/>
          </a:solidFill>
          <a:ln w="19050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Audio (AST)
768-d 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" y="1908000"/>
            <a:ext cx="1800000" cy="576000"/>
          </a:xfrm>
          <a:prstGeom prst="rect">
            <a:avLst/>
          </a:prstGeom>
          <a:solidFill>
            <a:srgbClr val="D9E7F5"/>
          </a:solidFill>
          <a:ln w="19050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Vision (ViT)
768-d 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556000"/>
            <a:ext cx="1800000" cy="576000"/>
          </a:xfrm>
          <a:prstGeom prst="rect">
            <a:avLst/>
          </a:prstGeom>
          <a:solidFill>
            <a:srgbClr val="D9E7F5"/>
          </a:solidFill>
          <a:ln w="19050">
            <a:solidFill>
              <a:srgbClr val="2E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EEG (EEGNet)
960-d 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0000" y="1620000"/>
            <a:ext cx="1800000" cy="1620000"/>
          </a:xfrm>
          <a:prstGeom prst="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1A3A5C"/>
                </a:solidFill>
                <a:latin typeface="Calibri"/>
              </a:rPr>
              <a:t>Linear projection
→ 256-d
+ modality embed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8000" y="1548000"/>
            <a:ext cx="612000" cy="25200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88000" y="2196000"/>
            <a:ext cx="612000" cy="14400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88000" y="2844000"/>
            <a:ext cx="612000" cy="3600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40000" y="1620000"/>
            <a:ext cx="2340000" cy="1620000"/>
          </a:xfrm>
          <a:prstGeom prst="rect">
            <a:avLst/>
          </a:prstGeom>
          <a:solidFill>
            <a:srgbClr val="1A3A5C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1A3A5C"/>
                </a:solidFill>
                <a:latin typeface="Calibri"/>
              </a:rPr>
              <a:t>Transformer encoder
(2 layers, 8 heads,
GELU, pre-LN, d_ff=1024)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1620000"/>
            <a:ext cx="2340000" cy="16200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Transformer encoder
(2 layers · 8 heads
GELU · pre-LN)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00000" y="2430000"/>
            <a:ext cx="540000" cy="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920000" y="1620000"/>
            <a:ext cx="1800000" cy="1620000"/>
          </a:xfrm>
          <a:prstGeom prst="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1A3A5C"/>
                </a:solidFill>
                <a:latin typeface="Calibri"/>
              </a:rPr>
              <a:t>Mean-pool
→ 256-d fused
embedding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80000" y="2430000"/>
            <a:ext cx="540000" cy="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260000" y="1620000"/>
            <a:ext cx="1620000" cy="1620000"/>
          </a:xfrm>
          <a:prstGeom prst="rect">
            <a:avLst/>
          </a:prstGeom>
          <a:solidFill>
            <a:srgbClr val="2E8B57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1300" b="1">
                <a:solidFill>
                  <a:srgbClr val="1A3A5C"/>
                </a:solidFill>
                <a:latin typeface="Calibri"/>
              </a:rPr>
              <a:t>MLP head
→ 5 emotion
logits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720000" y="2430000"/>
            <a:ext cx="540000" cy="0"/>
          </a:xfrm>
          <a:prstGeom prst="line">
            <a:avLst/>
          </a:prstGeom>
          <a:ln w="25400">
            <a:solidFill>
              <a:srgbClr val="1A3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000" y="378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  <a:latin typeface="Calibri"/>
              </a:rPr>
              <a:t>Why self-attention over 3 modality tokens, not 6-way pairwise CMA?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212000"/>
            <a:ext cx="11113200" cy="18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Our pretrained encoders produce a single pooled vector per modality (not a sequence of tokens).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At single-token-per-modality resolution, pairwise cross-attention degenerates to learned projection.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Self-attention over the 3-token modality sequence achieves equivalent cross-modal mixing with cleaner code and fewer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Training Results (42 Subjects)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  <a:latin typeface="Calibri"/>
              </a:rPr>
              <a:t>Headline 42-subject mean test accuracies:</a:t>
            </a:r>
          </a:p>
        </p:txBody>
      </p:sp>
      <p:pic>
        <p:nvPicPr>
          <p:cNvPr id="8" name="Picture 7" descr="fig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152000"/>
            <a:ext cx="7740000" cy="39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72000" y="1152000"/>
            <a:ext cx="378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Three key findings: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2000" y="1584000"/>
            <a:ext cx="3780000" cy="34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Per-modality classifiers exceed EAV's published baselines by +7 to +22 pp.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Multimodal fusion adds 5.4 pp over the best single modality.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Modality-dropout training adds another 4.5 pp on full-modality accuracy — a regularisation benefit on top of robustness.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2000" y="5148000"/>
            <a:ext cx="3780000" cy="90000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54000" bIns="54000"/>
          <a:lstStyle/>
          <a:p>
            <a:pPr algn="ctr"/>
            <a:r>
              <a:rPr sz="1300" b="1">
                <a:solidFill>
                  <a:srgbClr val="202020"/>
                </a:solidFill>
                <a:latin typeface="Calibri"/>
              </a:rPr>
              <a:t>Δ vs EAV-paper baselines:
+47 pp on best single modality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Comparison with Prior EAV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0">
                <a:solidFill>
                  <a:srgbClr val="202020"/>
                </a:solidFill>
                <a:latin typeface="Calibri"/>
              </a:rPr>
              <a:t>EAV was released in September 2024. To date there are three published trimodal fusion baselines on the dataset: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88000" y="1224000"/>
          <a:ext cx="11617199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599"/>
                <a:gridCol w="1659599"/>
                <a:gridCol w="1659599"/>
                <a:gridCol w="1659599"/>
                <a:gridCol w="1659599"/>
                <a:gridCol w="1659599"/>
                <a:gridCol w="1659605"/>
              </a:tblGrid>
              <a:tr h="46285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Audio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Vision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EEG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36000" marR="36000" marT="18000" marB="18000">
                    <a:solidFill>
                      <a:srgbClr val="1A3A5C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Lee et al. — EAV dataset paper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36.7%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52.8%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36.7%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— (no fusion)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AMERL (Yin et al.)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58.2%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67.2%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53.5%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70.86%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Hyper-MML (Kang et al.) — prev. SOTA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n/r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76.65%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EEG-MoCE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60.5%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53.8%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62.7%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75.88%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000" marR="54000" marT="18000" marB="18000">
                    <a:solidFill>
                      <a:srgbClr val="F2F2F2"/>
                    </a:solidFill>
                  </a:tcPr>
                </a:tc>
              </a:tr>
              <a:tr h="4628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Ours — cross-attention fusion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43.9%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80.20%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000" marR="54000" marT="18000" marB="18000">
                    <a:solidFill>
                      <a:srgbClr val="FFFFFF"/>
                    </a:solidFill>
                  </a:tcPr>
                </a:tc>
              </a:tr>
              <a:tr h="46285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Ours — + softhard modality dropout</a:t>
                      </a:r>
                    </a:p>
                  </a:txBody>
                  <a:tcPr marL="54000" marR="54000" marT="18000" marB="18000">
                    <a:solidFill>
                      <a:srgbClr val="FD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54000" marR="54000" marT="18000" marB="18000">
                    <a:solidFill>
                      <a:srgbClr val="FD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marL="54000" marR="54000" marT="18000" marB="18000">
                    <a:solidFill>
                      <a:srgbClr val="FD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marL="54000" marR="54000" marT="18000" marB="18000">
                    <a:solidFill>
                      <a:srgbClr val="FD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43.9%</a:t>
                      </a:r>
                    </a:p>
                  </a:txBody>
                  <a:tcPr marL="54000" marR="54000" marT="18000" marB="18000">
                    <a:solidFill>
                      <a:srgbClr val="FD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84.70%</a:t>
                      </a:r>
                    </a:p>
                  </a:txBody>
                  <a:tcPr marL="54000" marR="54000" marT="18000" marB="18000">
                    <a:solidFill>
                      <a:srgbClr val="FDF1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000" marR="54000" marT="18000" marB="18000">
                    <a:solidFill>
                      <a:srgbClr val="FDF1E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88000" y="4680000"/>
            <a:ext cx="11617199" cy="108000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54000" bIns="54000"/>
          <a:lstStyle/>
          <a:p>
            <a:pPr algn="ctr"/>
            <a:r>
              <a:rPr sz="1400" b="1">
                <a:solidFill>
                  <a:srgbClr val="1A3A5C"/>
                </a:solidFill>
                <a:latin typeface="Calibri"/>
              </a:rPr>
              <a:t>Cross-attention fusion alone exceeds prior SOTA (Hyper-MML) by +3.5 pp.  With softhard modality dropout: +8.1 pp over SOTA.
Three contributions unique to this work: modality dropout · zero-EEG demo path · cross-modal coherence matrix.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Modality Dropout &amp;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11617199" cy="46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0" i="0">
                <a:solidFill>
                  <a:srgbClr val="202020"/>
                </a:solidFill>
                <a:latin typeface="Calibri"/>
              </a:rPr>
              <a:t>Softhard modality dropout: at each training step one of the three modality tokens is randomly zeroed.</a:t>
            </a:r>
          </a:p>
        </p:txBody>
      </p:sp>
      <p:pic>
        <p:nvPicPr>
          <p:cNvPr id="8" name="Picture 7" descr="fig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260000"/>
            <a:ext cx="6840000" cy="37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00000" y="1260000"/>
            <a:ext cx="468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What the numbers tell us: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0" y="1692000"/>
            <a:ext cx="4680000" cy="28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Vision is the dominant modality — removing it costs 30 pp.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EEG-missing inference (the deployment scenario) is near-tied with full-modality.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Demo path (81.5%) is above the pre-dropout cross-attention baseline (80.2%).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" y="5220000"/>
            <a:ext cx="11617199" cy="90000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54000" bIns="54000"/>
          <a:lstStyle/>
          <a:p>
            <a:pPr algn="ctr"/>
            <a:r>
              <a:rPr sz="1500" b="1">
                <a:solidFill>
                  <a:srgbClr val="1A3A5C"/>
                </a:solidFill>
                <a:latin typeface="Calibri"/>
              </a:rPr>
              <a:t>The system deployed without EEG (81.5%) is more accurate than the original full-modality system before dropout (80.2%).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Cross-Modal Coherence Analysis — Suppression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202020"/>
                </a:solidFill>
                <a:latin typeface="Calibri"/>
              </a:rPr>
              <a:t>Suppression event: AV agree on top-1, EEG predicts a different class with confidence ≥ 0.5.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648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5,040 trials → 401 suppression events (8.0 % base rate)</a:t>
            </a:r>
          </a:p>
        </p:txBody>
      </p:sp>
      <p:pic>
        <p:nvPicPr>
          <p:cNvPr id="9" name="Picture 8" descr="fig_sup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440000"/>
            <a:ext cx="6120000" cy="45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Dominant patterns (highlighted):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0" y="1872000"/>
            <a:ext cx="5400000" cy="39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Bidirectional Anger ↔ Happiness: 65 + 52 = 117 events → high-arousal valence confusion.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Sadness → Neutral: 43 events; Calmness → Neutral: 40 events → low-arousal physiological baseline.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Patterns distributed across many subjects (not driven by outliers).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202020"/>
                </a:solidFill>
                <a:latin typeface="Calibri"/>
              </a:rPr>
              <a:t>•  EEG-Neutral inflation = −1.0 pp → no model-bias confound at scale; matrix is interpretable at face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Per-Class Performance &amp; Confusion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Calibri"/>
              </a:rPr>
              <a:t>Per-emotion classification on the dropout-trained model (42 subjects, 5,040 trials):</a:t>
            </a:r>
          </a:p>
        </p:txBody>
      </p:sp>
      <p:pic>
        <p:nvPicPr>
          <p:cNvPr id="8" name="Picture 7" descr="fig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80000"/>
            <a:ext cx="11700000" cy="3600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88000" y="4860000"/>
            <a:ext cx="11617199" cy="126000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54000" bIns="54000"/>
          <a:lstStyle/>
          <a:p>
            <a:pPr algn="ctr"/>
            <a:r>
              <a:rPr sz="1400" b="0">
                <a:solidFill>
                  <a:srgbClr val="1A3A5C"/>
                </a:solidFill>
                <a:latin typeface="Calibri"/>
              </a:rPr>
              <a:t>Cross-validation between classification and coherence:  Neutral ↔ Calmness confusion (14 %) matches the Calmness → Neutral suppression pattern (40 events). Low-arousal emotions are confusable in both supervised classification and cross-modal coherence terms.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900000"/>
            <a:ext cx="1161719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  <a:latin typeface="Calibri"/>
              </a:rPr>
              <a:t>Personal video clip processed by the demo path (AV-only, EEG = 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0000" y="1800000"/>
            <a:ext cx="9313200" cy="2160000"/>
          </a:xfrm>
          <a:prstGeom prst="roundRect">
            <a:avLst/>
          </a:prstGeom>
          <a:solidFill>
            <a:srgbClr val="1A3A5C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54000" bIns="540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▶  PLAY DEMO VIDEO  ◀
(thesis_demo_overlay.mp4)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4320000"/>
            <a:ext cx="11617199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  <a:latin typeface="Calibri"/>
              </a:rPr>
              <a:t>What to look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4680000"/>
            <a:ext cx="11113200" cy="14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Per-segment emotion label updates every ~1 second using 5-second sliding windows.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Audio + video only; no EEG hardware required at inference.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Reported demo-path accuracy on the 42-subject test set: 81.5 %.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54000"/>
            <a:ext cx="10393200" cy="503999"/>
          </a:xfrm>
          <a:prstGeom prst="rect">
            <a:avLst/>
          </a:prstGeom>
          <a:noFill/>
        </p:spPr>
        <p:txBody>
          <a:bodyPr wrap="none" anchor="ctr" l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Future Work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6534000"/>
            <a:ext cx="9000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  <a:latin typeface="Calibri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34000"/>
            <a:ext cx="10753200" cy="251999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Calibri"/>
              </a:rPr>
              <a:t>Cross-Modal Affective Coherence  ·  Shafin  ·  Pre-thesis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792000"/>
            <a:ext cx="576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  <a:latin typeface="Calibri"/>
              </a:rPr>
              <a:t>Phase 2 future work (out of scope):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224000"/>
            <a:ext cx="5580000" cy="28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Clinical validation: deploy coherence detection on labelled depression / alexithymia populations.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In-the-wild deployment: temporal head over per-modality embeddings; DFEW or MAFW dataset.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MERCL contrastive pre-training across the three modalities.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02020"/>
                </a:solidFill>
                <a:latin typeface="Calibri"/>
              </a:rPr>
              <a:t>•  Full LOSO subject-independent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0" y="792000"/>
            <a:ext cx="5400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  <a:latin typeface="Calibri"/>
              </a:rPr>
              <a:t>Summary of contributions: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0" y="1224000"/>
            <a:ext cx="5400000" cy="360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First reproduction of trimodal A+V+E fusion on EAV.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Cross-attention fusion module with named per-modality embeddings supporting future extensions.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Modality-dropout training enabling EEG-missing inference at 81.5 % accuracy.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Novel cross-modal coherence framework via suppression matrix.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 Cross-method validation: classification confusion mirrors coherence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00" y="4680000"/>
            <a:ext cx="11617199" cy="1620000"/>
          </a:xfrm>
          <a:prstGeom prst="roundRect">
            <a:avLst/>
          </a:prstGeom>
          <a:solidFill>
            <a:srgbClr val="FDF1E0"/>
          </a:solidFill>
          <a:ln w="19050">
            <a:solidFill>
              <a:srgbClr val="C87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54000" bIns="54000"/>
          <a:lstStyle/>
          <a:p>
            <a:pPr algn="ctr"/>
            <a:r>
              <a:rPr sz="2800" b="1">
                <a:solidFill>
                  <a:srgbClr val="1A3A5C"/>
                </a:solidFill>
                <a:latin typeface="Calibri"/>
              </a:rPr>
              <a:t>Thank you for your attention.
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