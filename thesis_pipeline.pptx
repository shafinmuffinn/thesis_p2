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4000" y="108000"/>
            <a:ext cx="11905200" cy="342000"/>
          </a:xfrm>
          <a:prstGeom prst="rect">
            <a:avLst/>
          </a:prstGeom>
          <a:solidFill>
            <a:srgbClr val="1F3A6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Training Pipeline — Trimodal Emotion Recognition on EAV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000" y="522000"/>
            <a:ext cx="11905200" cy="306000"/>
          </a:xfrm>
          <a:prstGeom prst="rect">
            <a:avLst/>
          </a:prstGeom>
          <a:solidFill>
            <a:srgbClr val="FFF3CD"/>
          </a:solidFill>
          <a:ln w="15875">
            <a:solidFill>
              <a:srgbClr val="C89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1F3A68"/>
                </a:solidFill>
              </a:rPr>
              <a:t>EAV Dataset   ·   42 subjects × 5 emotions × 200 cue-based interactions   ·   Trial-aligned across modalities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4000" y="917999"/>
            <a:ext cx="3060000" cy="413999"/>
          </a:xfrm>
          <a:prstGeom prst="roundRect">
            <a:avLst/>
          </a:prstGeom>
          <a:solidFill>
            <a:srgbClr val="DCE6F1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1F3A68"/>
                </a:solidFill>
              </a:rPr>
              <a:t>AUDIO</a:t>
            </a:r>
          </a:p>
          <a:p>
            <a:pPr algn="ctr"/>
            <a:r>
              <a:rPr sz="1100" b="1" i="0">
                <a:solidFill>
                  <a:srgbClr val="1F3A68"/>
                </a:solidFill>
              </a:rPr>
              <a:t>16 kHz  ·  5 s clip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68400" y="917999"/>
            <a:ext cx="3060000" cy="413999"/>
          </a:xfrm>
          <a:prstGeom prst="roundRect">
            <a:avLst/>
          </a:prstGeom>
          <a:solidFill>
            <a:srgbClr val="DCE6F1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1F3A68"/>
                </a:solidFill>
              </a:rPr>
              <a:t>VIDEO</a:t>
            </a:r>
          </a:p>
          <a:p>
            <a:pPr algn="ctr"/>
            <a:r>
              <a:rPr sz="1100" b="1" i="0">
                <a:solidFill>
                  <a:srgbClr val="1F3A68"/>
                </a:solidFill>
              </a:rPr>
              <a:t>25 fps  ·  5 s clip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69200" y="917999"/>
            <a:ext cx="3060000" cy="413999"/>
          </a:xfrm>
          <a:prstGeom prst="roundRect">
            <a:avLst/>
          </a:prstGeom>
          <a:solidFill>
            <a:srgbClr val="DCE6F1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1F3A68"/>
                </a:solidFill>
              </a:rPr>
              <a:t>EEG</a:t>
            </a:r>
          </a:p>
          <a:p>
            <a:pPr algn="ctr"/>
            <a:r>
              <a:rPr sz="1100" b="1" i="0">
                <a:solidFill>
                  <a:srgbClr val="1F3A68"/>
                </a:solidFill>
              </a:rPr>
              <a:t>30 channels  ·  500 Hz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4000" y="1332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8399" y="1332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99200" y="1332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4000" y="1440000"/>
            <a:ext cx="3060000" cy="43200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0" i="0">
                <a:solidFill>
                  <a:srgbClr val="1F3A68"/>
                </a:solidFill>
              </a:rPr>
              <a:t>AST feature extractor</a:t>
            </a:r>
          </a:p>
          <a:p>
            <a:pPr algn="ctr"/>
            <a:r>
              <a:rPr sz="1000" b="0" i="0">
                <a:solidFill>
                  <a:srgbClr val="1F3A68"/>
                </a:solidFill>
              </a:rPr>
              <a:t>log-mel spectrogram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8400" y="1440000"/>
            <a:ext cx="3060000" cy="43200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0" i="0">
                <a:solidFill>
                  <a:srgbClr val="1F3A68"/>
                </a:solidFill>
              </a:rPr>
              <a:t>MTCNN face crop  +  HF ViT processor</a:t>
            </a:r>
          </a:p>
          <a:p>
            <a:pPr algn="ctr"/>
            <a:r>
              <a:rPr sz="1000" b="0" i="0">
                <a:solidFill>
                  <a:srgbClr val="1F3A68"/>
                </a:solidFill>
              </a:rPr>
              <a:t>→ 224×224 frames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69200" y="1440000"/>
            <a:ext cx="3060000" cy="43200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0" i="0">
                <a:solidFill>
                  <a:srgbClr val="1F3A68"/>
                </a:solidFill>
              </a:rPr>
              <a:t>Downsample 100 Hz</a:t>
            </a:r>
          </a:p>
          <a:p>
            <a:pPr algn="ctr"/>
            <a:r>
              <a:rPr sz="1000" b="0" i="0">
                <a:solidFill>
                  <a:srgbClr val="1F3A68"/>
                </a:solidFill>
              </a:rPr>
              <a:t>+ 0.5–45 Hz bandpass  ·  5 s windows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94000" y="1872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8399" y="1872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9200" y="1872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000" y="1980000"/>
            <a:ext cx="3060000" cy="558000"/>
          </a:xfrm>
          <a:prstGeom prst="roundRect">
            <a:avLst/>
          </a:prstGeom>
          <a:solidFill>
            <a:srgbClr val="4B6EA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AST  (Audio Spectrogram Transformer)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MIT/ast-finetuned-audioset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→ 768-d pooled embedding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8400" y="1980000"/>
            <a:ext cx="3060000" cy="558000"/>
          </a:xfrm>
          <a:prstGeom prst="roundRect">
            <a:avLst/>
          </a:prstGeom>
          <a:solidFill>
            <a:srgbClr val="4B6EA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ViT  (Vision Transformer)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dima806/facial_emotions_image_detection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→ 768-d pooled embedding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9200" y="1980000"/>
            <a:ext cx="3060000" cy="558000"/>
          </a:xfrm>
          <a:prstGeom prst="roundRect">
            <a:avLst/>
          </a:prstGeom>
          <a:solidFill>
            <a:srgbClr val="4B6EA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EEGNet  (F1=8, D=8, F2=64)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trained from random init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→ 960-d pooled embedding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94000" y="2538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8399" y="2538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99200" y="2538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64000" y="2664000"/>
            <a:ext cx="10465200" cy="288000"/>
          </a:xfrm>
          <a:prstGeom prst="rect">
            <a:avLst/>
          </a:prstGeom>
          <a:solidFill>
            <a:srgbClr val="ECECEC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1F3A68"/>
                </a:solidFill>
              </a:rPr>
              <a:t>Linear projection → D = 256 per modality   →   modality tokens  [A_tok, V_tok, E_tok]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8400" y="2952000"/>
            <a:ext cx="0" cy="126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4000" y="3024000"/>
            <a:ext cx="10465200" cy="1080000"/>
          </a:xfrm>
          <a:prstGeom prst="roundRect">
            <a:avLst/>
          </a:prstGeom>
          <a:solidFill>
            <a:srgbClr val="DCE6F1"/>
          </a:solidFill>
          <a:ln w="2540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0" i="0">
                <a:solidFill>
                  <a:srgbClr val="1F3A68"/>
                </a:solidFill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000" y="3060000"/>
            <a:ext cx="103212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1F3A68"/>
                </a:solidFill>
              </a:rPr>
              <a:t>TRIMODAL ATTENTION FUSION   ·   2.28 M trainable parameters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7999" y="3294000"/>
            <a:ext cx="4860000" cy="396000"/>
          </a:xfrm>
          <a:prstGeom prst="roundRect">
            <a:avLst/>
          </a:prstGeom>
          <a:solidFill>
            <a:srgbClr val="FFF3CD"/>
          </a:solidFill>
          <a:ln w="15875">
            <a:solidFill>
              <a:srgbClr val="C89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1">
                <a:solidFill>
                  <a:srgbClr val="1F3A68"/>
                </a:solidFill>
              </a:rPr>
              <a:t>Modality Dropout  (softhard)</a:t>
            </a:r>
          </a:p>
          <a:p>
            <a:pPr algn="ctr"/>
            <a:r>
              <a:rPr sz="1000" b="1" i="1">
                <a:solidFill>
                  <a:srgbClr val="1F3A68"/>
                </a:solidFill>
              </a:rPr>
              <a:t>random 1-of-3 zeroed   ·   training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48000" y="3294000"/>
            <a:ext cx="4860000" cy="39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Self-Attention  ×  2 layers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8 heads   ·   GELU   ·   pre-norm LayerNorm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999" y="3761999"/>
            <a:ext cx="10177200" cy="30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outputs:  per-modality contextualised embeddings + fused embedding (D = 256)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060000" y="4104000"/>
            <a:ext cx="900000" cy="252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33200" y="4104000"/>
            <a:ext cx="900000" cy="252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260000" y="4356000"/>
            <a:ext cx="3600000" cy="540000"/>
          </a:xfrm>
          <a:prstGeom prst="roundRect">
            <a:avLst/>
          </a:prstGeom>
          <a:solidFill>
            <a:srgbClr val="D4EDDA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MLP CLASSIFIER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5-way softmax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Neutral · Anger · Happiness · Sadness · Calmness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3200" y="4356000"/>
            <a:ext cx="3600000" cy="540000"/>
          </a:xfrm>
          <a:prstGeom prst="roundRect">
            <a:avLst/>
          </a:prstGeom>
          <a:solidFill>
            <a:srgbClr val="D4EDDA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COHERENCE HEAD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pairwise symmetric KL on softmaxes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→ 5×5 suppression matrix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60000" y="4896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133200" y="4896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60000" y="5004000"/>
            <a:ext cx="3600000" cy="666000"/>
          </a:xfrm>
          <a:prstGeom prst="rect">
            <a:avLst/>
          </a:prstGeom>
          <a:solidFill>
            <a:srgbClr val="1F3A6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CLASSIFICATION  RESULTS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80.2% cross-attention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84.7% + modality dropout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81.5% AV-only (zero-EEG demo)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200" y="5004000"/>
            <a:ext cx="3600000" cy="666000"/>
          </a:xfrm>
          <a:prstGeom prst="rect">
            <a:avLst/>
          </a:prstGeom>
          <a:solidFill>
            <a:srgbClr val="1F3A6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COHERENCE  RESULTS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401 suppression events / 5,040 trials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Anger ↔ Happiness  ·  Sad/Calm → 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" y="5796000"/>
            <a:ext cx="119052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</a:rPr>
              <a:t>Stage 1  Preprocessing   ·   Stage 2  Per-modality encoders   ·   Stage 3  Trimodal fusion   ·   Stage 4  Classification &amp; coherence heads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000" y="6623999"/>
            <a:ext cx="11905200" cy="14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</a:rPr>
              <a:t>EAV dataset: Lee et al., Scientific Data 2024  ·  Fusion architecture: this thesis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4000" y="108000"/>
            <a:ext cx="11905200" cy="342000"/>
          </a:xfrm>
          <a:prstGeom prst="rect">
            <a:avLst/>
          </a:prstGeom>
          <a:solidFill>
            <a:srgbClr val="1F3A6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Trimodal Attention Fusion — Module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40000" y="666000"/>
            <a:ext cx="1152000" cy="360000"/>
          </a:xfrm>
          <a:prstGeom prst="roundRect">
            <a:avLst/>
          </a:prstGeom>
          <a:solidFill>
            <a:srgbClr val="DCE6F1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A_tok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(256-d)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4000" y="666000"/>
            <a:ext cx="1152000" cy="360000"/>
          </a:xfrm>
          <a:prstGeom prst="roundRect">
            <a:avLst/>
          </a:prstGeom>
          <a:solidFill>
            <a:srgbClr val="DCE6F1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V_tok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(256-d)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8000" y="666000"/>
            <a:ext cx="1152000" cy="360000"/>
          </a:xfrm>
          <a:prstGeom prst="roundRect">
            <a:avLst/>
          </a:prstGeom>
          <a:solidFill>
            <a:srgbClr val="DCE6F1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E_tok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(256-d)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0" y="1026000"/>
            <a:ext cx="1080000" cy="306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60000" y="1026000"/>
            <a:ext cx="0" cy="306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960000" y="1026000"/>
            <a:ext cx="1080000" cy="306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00000" y="1332000"/>
            <a:ext cx="4320000" cy="432000"/>
          </a:xfrm>
          <a:prstGeom prst="roundRect">
            <a:avLst/>
          </a:prstGeom>
          <a:solidFill>
            <a:srgbClr val="FFF3CD"/>
          </a:solidFill>
          <a:ln w="15875">
            <a:solidFill>
              <a:srgbClr val="C89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1">
                <a:solidFill>
                  <a:srgbClr val="1F3A68"/>
                </a:solidFill>
              </a:rPr>
              <a:t>Modality Dropout  (softhard, training only)</a:t>
            </a:r>
          </a:p>
          <a:p>
            <a:pPr algn="ctr"/>
            <a:r>
              <a:rPr sz="1000" b="1" i="1">
                <a:solidFill>
                  <a:srgbClr val="1F3A68"/>
                </a:solidFill>
              </a:rPr>
              <a:t>p_drop = 1/3   ·   one token zeroed per step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1764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00000" y="1872000"/>
            <a:ext cx="4320000" cy="32400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+ learnable modality embedding   ·   LayerNorm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2196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00000" y="2304000"/>
            <a:ext cx="4320000" cy="503999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Transformer Encoder Block  ×  1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Multi-head SA (h=8)  →  residual + LN  →  FFN (D → 4D → D)  →  residual + LN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2808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00000" y="2916000"/>
            <a:ext cx="4320000" cy="36000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Transformer Encoder Block  ×  2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identical structure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3276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00000" y="3384000"/>
            <a:ext cx="4320000" cy="28800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Token-wise mean pool over 3 modalities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60000" y="3672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00000" y="3780000"/>
            <a:ext cx="4320000" cy="360000"/>
          </a:xfrm>
          <a:prstGeom prst="roundRect">
            <a:avLst/>
          </a:prstGeom>
          <a:solidFill>
            <a:srgbClr val="1F3A6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1">
                <a:solidFill>
                  <a:srgbClr val="FFFFFF"/>
                </a:solidFill>
              </a:rPr>
              <a:t>Fused embedding   ·   D = 256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60000" y="4140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920000" y="666000"/>
            <a:ext cx="4104000" cy="234000"/>
          </a:xfrm>
          <a:prstGeom prst="rect">
            <a:avLst/>
          </a:prstGeom>
          <a:solidFill>
            <a:srgbClr val="1F3A6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DESIGN RATIONALE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0" y="972000"/>
            <a:ext cx="4104000" cy="216000"/>
          </a:xfrm>
          <a:prstGeom prst="rect">
            <a:avLst/>
          </a:prstGeom>
          <a:solidFill>
            <a:srgbClr val="FFF3CD"/>
          </a:solidFill>
          <a:ln w="15875">
            <a:solidFill>
              <a:srgbClr val="C89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Why self-attention over 3 tokens?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0" y="1188000"/>
            <a:ext cx="4104000" cy="7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50" b="0" i="0">
                <a:solidFill>
                  <a:srgbClr val="1F3A68"/>
                </a:solidFill>
              </a:rPr>
              <a:t>Per-modality encoders produce single pooled features. Pairwise cross-attention (6-way Lee/Kim/Kim CMA) degenerates to a learned projection at single-token resolution. Self-attention does the same work with fewer parameters.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0" y="2052000"/>
            <a:ext cx="4104000" cy="216000"/>
          </a:xfrm>
          <a:prstGeom prst="rect">
            <a:avLst/>
          </a:prstGeom>
          <a:solidFill>
            <a:srgbClr val="FFF3CD"/>
          </a:solidFill>
          <a:ln w="15875">
            <a:solidFill>
              <a:srgbClr val="C89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Why softhard modality dropout?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0" y="2268000"/>
            <a:ext cx="4104000" cy="7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50" b="0" i="0">
                <a:solidFill>
                  <a:srgbClr val="1F3A68"/>
                </a:solidFill>
              </a:rPr>
              <a:t>Trains the fusion to remain calibrated when one modality is zeroed at inference. Enables a working zero-EEG demo path on a recorded MP4 clip and adds +4.5 pp accuracy.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3131999"/>
            <a:ext cx="4104000" cy="216000"/>
          </a:xfrm>
          <a:prstGeom prst="rect">
            <a:avLst/>
          </a:prstGeom>
          <a:solidFill>
            <a:srgbClr val="FFF3CD"/>
          </a:solidFill>
          <a:ln w="15875">
            <a:solidFill>
              <a:srgbClr val="C89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Why expose per-modality embeddings?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0000" y="3347999"/>
            <a:ext cx="4104000" cy="7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950" b="0" i="0">
                <a:solidFill>
                  <a:srgbClr val="1F3A68"/>
                </a:solidFill>
              </a:rPr>
              <a:t>Phase-2 temporal heads (LSTM / TCN / temporal transformer) can plug onto the per-modality outputs without architectural rewrite. forward(x_eeg=zeros) is a first-class call.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000" y="6623999"/>
            <a:ext cx="11905200" cy="14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</a:rPr>
              <a:t>TrimodalAttentionFusion — fusion/trimodal_attention.py  ·  D = 256  ·  2.28 M parameters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4000" y="108000"/>
            <a:ext cx="11905200" cy="342000"/>
          </a:xfrm>
          <a:prstGeom prst="rect">
            <a:avLst/>
          </a:prstGeom>
          <a:solidFill>
            <a:srgbClr val="1F3A6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Inference Pipeline — Zero-EEG Demo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0" y="576000"/>
            <a:ext cx="3553199" cy="360000"/>
          </a:xfrm>
          <a:prstGeom prst="rect">
            <a:avLst/>
          </a:prstGeom>
          <a:solidFill>
            <a:srgbClr val="FFF3CD"/>
          </a:solidFill>
          <a:ln w="15875">
            <a:solidFill>
              <a:srgbClr val="C89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 i="0">
                <a:solidFill>
                  <a:srgbClr val="1F3A68"/>
                </a:solidFill>
              </a:rPr>
              <a:t>Input  ·  recorded MP4 video clip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8400" y="936000"/>
            <a:ext cx="0" cy="144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080000"/>
            <a:ext cx="3240000" cy="396000"/>
          </a:xfrm>
          <a:prstGeom prst="roundRect">
            <a:avLst/>
          </a:prstGeom>
          <a:solidFill>
            <a:srgbClr val="DCE6F1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ffmpeg demux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→ Audio stream (16 kHz)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8400" y="1080000"/>
            <a:ext cx="3240000" cy="396000"/>
          </a:xfrm>
          <a:prstGeom prst="roundRect">
            <a:avLst/>
          </a:prstGeom>
          <a:solidFill>
            <a:srgbClr val="DCE6F1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1F3A68"/>
                </a:solidFill>
              </a:rPr>
              <a:t>OpenCV frame read</a:t>
            </a:r>
          </a:p>
          <a:p>
            <a:pPr algn="ctr"/>
            <a:r>
              <a:rPr sz="1000" b="1" i="0">
                <a:solidFill>
                  <a:srgbClr val="1F3A68"/>
                </a:solidFill>
              </a:rPr>
              <a:t>→ Video frames (25 fps)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3200" y="1080000"/>
            <a:ext cx="3240000" cy="396000"/>
          </a:xfrm>
          <a:prstGeom prst="roundRect">
            <a:avLst/>
          </a:prstGeom>
          <a:solidFill>
            <a:srgbClr val="FFF3CD"/>
          </a:solidFill>
          <a:ln w="15875">
            <a:solidFill>
              <a:srgbClr val="B0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1">
                <a:solidFill>
                  <a:srgbClr val="B01F1F"/>
                </a:solidFill>
              </a:rPr>
              <a:t>EEG SENSOR ABSENT</a:t>
            </a:r>
          </a:p>
          <a:p>
            <a:pPr algn="ctr"/>
            <a:r>
              <a:rPr sz="1000" b="1" i="1">
                <a:solidFill>
                  <a:srgbClr val="B01F1F"/>
                </a:solidFill>
              </a:rPr>
              <a:t>→ zero tensor (B, 960)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0000" y="1475999"/>
            <a:ext cx="0" cy="144001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8400" y="1475999"/>
            <a:ext cx="0" cy="144001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33200" y="1475999"/>
            <a:ext cx="0" cy="144001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0000" y="1620000"/>
            <a:ext cx="11113200" cy="306000"/>
          </a:xfrm>
          <a:prstGeom prst="rect">
            <a:avLst/>
          </a:prstGeom>
          <a:solidFill>
            <a:srgbClr val="ECECEC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1F3A68"/>
                </a:solidFill>
              </a:rPr>
              <a:t>5-second sliding window  ·  1-second stride  ·  same preprocessing as training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8400" y="1925999"/>
            <a:ext cx="0" cy="144001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" y="2070000"/>
            <a:ext cx="3240000" cy="503999"/>
          </a:xfrm>
          <a:prstGeom prst="roundRect">
            <a:avLst/>
          </a:prstGeom>
          <a:solidFill>
            <a:srgbClr val="4B6EA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AST  (frozen)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→ 768-d audio embedding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8400" y="2070000"/>
            <a:ext cx="3240000" cy="503999"/>
          </a:xfrm>
          <a:prstGeom prst="roundRect">
            <a:avLst/>
          </a:prstGeom>
          <a:solidFill>
            <a:srgbClr val="4B6EA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ViT  (frozen)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→ 768-d vision embedding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3200" y="2070000"/>
            <a:ext cx="3240000" cy="503999"/>
          </a:xfrm>
          <a:prstGeom prst="roundRect">
            <a:avLst/>
          </a:prstGeom>
          <a:solidFill>
            <a:srgbClr val="555555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000" b="1" i="1">
                <a:solidFill>
                  <a:srgbClr val="FFFFFF"/>
                </a:solidFill>
              </a:rPr>
              <a:t>EEGNet  (frozen, receives zeros)</a:t>
            </a:r>
          </a:p>
          <a:p>
            <a:pPr algn="ctr"/>
            <a:r>
              <a:rPr sz="1000" b="1" i="1">
                <a:solidFill>
                  <a:srgbClr val="FFFFFF"/>
                </a:solidFill>
              </a:rPr>
              <a:t>→ 960-d zero-driven embedding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60000" y="2574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8400" y="2574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33200" y="2574000"/>
            <a:ext cx="0" cy="108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0000" y="2736000"/>
            <a:ext cx="11113200" cy="503999"/>
          </a:xfrm>
          <a:prstGeom prst="roundRect">
            <a:avLst/>
          </a:prstGeom>
          <a:solidFill>
            <a:srgbClr val="DCE6F1"/>
          </a:solidFill>
          <a:ln w="2540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 i="0">
                <a:solidFill>
                  <a:srgbClr val="1F3A68"/>
                </a:solidFill>
              </a:rPr>
              <a:t>TRIMODAL  ATTENTION  FUSION   ·   dropout-trained checkpoint   ·   zero-EEG token is in-distribution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8400" y="3240000"/>
            <a:ext cx="0" cy="144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620000" y="3384000"/>
            <a:ext cx="8953200" cy="432000"/>
          </a:xfrm>
          <a:prstGeom prst="rect">
            <a:avLst/>
          </a:prstGeom>
          <a:solidFill>
            <a:srgbClr val="D4EDDA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1F3A68"/>
                </a:solidFill>
              </a:rPr>
              <a:t>Per-window prediction  +  confidence  +  3-window median smoothing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8400" y="3816000"/>
            <a:ext cx="0" cy="144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620000" y="3960000"/>
            <a:ext cx="8953200" cy="503999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1" i="0">
                <a:solidFill>
                  <a:srgbClr val="1F3A68"/>
                </a:solidFill>
              </a:rPr>
              <a:t>OpenCV overlay  (emotion pill + confidence bar + timestamp)</a:t>
            </a:r>
          </a:p>
          <a:p>
            <a:pPr algn="ctr"/>
            <a:r>
              <a:rPr sz="1100" b="1" i="0">
                <a:solidFill>
                  <a:srgbClr val="1F3A68"/>
                </a:solidFill>
              </a:rPr>
              <a:t>+  ffmpeg audio re-mux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8400" y="4464000"/>
            <a:ext cx="0" cy="144000"/>
          </a:xfrm>
          <a:prstGeom prst="line">
            <a:avLst/>
          </a:prstGeom>
          <a:ln w="22225">
            <a:solidFill>
              <a:srgbClr val="1F3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620000" y="4608000"/>
            <a:ext cx="8953200" cy="576000"/>
          </a:xfrm>
          <a:prstGeom prst="rect">
            <a:avLst/>
          </a:prstGeom>
          <a:solidFill>
            <a:srgbClr val="1F3A68"/>
          </a:solidFill>
          <a:ln w="1587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  ·  MP4 with frame-level emotion overlay  ·  caption: "EEG unavailable; prediction uses audio + video only"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5292000"/>
            <a:ext cx="11113200" cy="576000"/>
          </a:xfrm>
          <a:prstGeom prst="rect">
            <a:avLst/>
          </a:prstGeom>
          <a:solidFill>
            <a:srgbClr val="FFF3CD"/>
          </a:solidFill>
          <a:ln w="15875">
            <a:solidFill>
              <a:srgbClr val="C89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100" b="0" i="1">
                <a:solidFill>
                  <a:srgbClr val="1F3A68"/>
                </a:solidFill>
              </a:rPr>
              <a:t>Empirical: dropout-trained AV-only inference reaches 81.5% on EAV's held-out trials, exceeding the dropout-untrained full-modality baseline (80.2%). Modality dropout is therefore not a robustness ablation — it is a first-class training requirement for the demo.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00" y="6623999"/>
            <a:ext cx="11905200" cy="14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</a:rPr>
              <a:t>demo_inference.py  →  emits list of (start_time, emotion, confidence)   ·   demo_overlay.py  →  renders the 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